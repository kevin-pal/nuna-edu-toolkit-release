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</p:sldIdLst>
  <p:notesMasterIdLst>
    <p:notesMasterId r:id="rId3"/>
  </p:notesMasterIdLst>
  <p:sldSz cx="12191695" cy="6858000"/>
  <p:notesSz cx="6858000" cy="12191695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notesMaster" Target="notesMasters/notesMaster1.xml"/><Relationship Id="rId4" Type="http://schemas.openxmlformats.org/officeDocument/2006/relationships/presProps" Target="presProps.xml"/><Relationship Id="rId5" Type="http://schemas.openxmlformats.org/officeDocument/2006/relationships/viewProps" Target="viewProps.xml"/><Relationship Id="rId6" Type="http://schemas.openxmlformats.org/officeDocument/2006/relationships/theme" Target="theme/theme1.xml"/><Relationship Id="rId7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85800" y="640080"/>
            <a:ext cx="73152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spc="200" kern="0" dirty="0">
                <a:solidFill>
                  <a:srgbClr val="156082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OPEN TOOLKIT  ·  AIoT LAB · CUHK</a:t>
            </a:r>
            <a:endParaRPr lang="en-US" sz="1300" dirty="0"/>
          </a:p>
        </p:txBody>
      </p:sp>
      <p:sp>
        <p:nvSpPr>
          <p:cNvPr id="3" name="Text 1"/>
          <p:cNvSpPr/>
          <p:nvPr/>
        </p:nvSpPr>
        <p:spPr>
          <a:xfrm>
            <a:off x="658368" y="960120"/>
            <a:ext cx="731520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600" b="1" dirty="0">
                <a:solidFill>
                  <a:srgbClr val="0E2841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Nuna-Edu-Toolkit</a:t>
            </a:r>
            <a:endParaRPr lang="en-US" sz="4600" dirty="0"/>
          </a:p>
        </p:txBody>
      </p:sp>
      <p:sp>
        <p:nvSpPr>
          <p:cNvPr id="4" name="Text 2"/>
          <p:cNvSpPr/>
          <p:nvPr/>
        </p:nvSpPr>
        <p:spPr>
          <a:xfrm>
            <a:off x="685800" y="1874520"/>
            <a:ext cx="704088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5000"/>
              </a:lnSpc>
              <a:buNone/>
            </a:pPr>
            <a:r>
              <a:rPr lang="en-US" sz="2000" dirty="0">
                <a:solidFill>
                  <a:srgbClr val="1C2B39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Collect &amp; annotate first-person audio — and turn it into research datasets.</a:t>
            </a:r>
            <a:endParaRPr lang="en-US" sz="2000" dirty="0"/>
          </a:p>
        </p:txBody>
      </p:sp>
      <p:sp>
        <p:nvSpPr>
          <p:cNvPr id="5" name="Text 3"/>
          <p:cNvSpPr/>
          <p:nvPr/>
        </p:nvSpPr>
        <p:spPr>
          <a:xfrm>
            <a:off x="713232" y="2788920"/>
            <a:ext cx="7040880" cy="2468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203200" indent="-203200">
              <a:buSzPct val="100000"/>
              <a:buChar char="•"/>
            </a:pPr>
            <a:r>
              <a:rPr lang="en-US" sz="1600" b="1" dirty="0">
                <a:solidFill>
                  <a:srgbClr val="156082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Capture</a:t>
            </a:r>
            <a:pPr indent="0" marL="0">
              <a:spcAft>
                <a:spcPts val="1200"/>
              </a:spcAft>
              <a:buNone/>
            </a:pPr>
            <a:r>
              <a:rPr lang="en-US" sz="1600" dirty="0">
                <a:solidFill>
                  <a:srgbClr val="1C2B39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  wearable audio streamed to your own server, sliced into 1-minute segments</a:t>
            </a:r>
            <a:endParaRPr lang="en-US" sz="1600" dirty="0"/>
          </a:p>
          <a:p>
            <a:pPr indent="0" marL="0">
              <a:buNone/>
            </a:pPr>
            <a:r>
              <a:rPr lang="en-US" sz="1600" b="1" dirty="0">
                <a:solidFill>
                  <a:srgbClr val="156082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Recall</a:t>
            </a:r>
            <a:pPr indent="0" marL="0">
              <a:spcAft>
                <a:spcPts val="1200"/>
              </a:spcAft>
              <a:buNone/>
            </a:pPr>
            <a:r>
              <a:rPr lang="en-US" sz="1600" dirty="0">
                <a:solidFill>
                  <a:srgbClr val="1C2B39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  ASR transcript previews (Qwen3-ASR or mock) speed up annotation</a:t>
            </a:r>
            <a:endParaRPr lang="en-US" sz="1600" dirty="0"/>
          </a:p>
          <a:p>
            <a:pPr indent="0" marL="0">
              <a:buNone/>
            </a:pPr>
            <a:r>
              <a:rPr lang="en-US" sz="1600" b="1" dirty="0">
                <a:solidFill>
                  <a:srgbClr val="156082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Annotate</a:t>
            </a:r>
            <a:pPr indent="0" marL="0">
              <a:spcAft>
                <a:spcPts val="1200"/>
              </a:spcAft>
              <a:buNone/>
            </a:pPr>
            <a:r>
              <a:rPr lang="en-US" sz="1600" dirty="0">
                <a:solidFill>
                  <a:srgbClr val="1C2B39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  event-driven block + point labels — a swappable, multi-granularity schema</a:t>
            </a:r>
            <a:endParaRPr lang="en-US" sz="1600" dirty="0"/>
          </a:p>
          <a:p>
            <a:pPr indent="0" marL="0">
              <a:buNone/>
            </a:pPr>
            <a:r>
              <a:rPr lang="en-US" sz="1600" b="1" dirty="0">
                <a:solidFill>
                  <a:srgbClr val="156082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Open</a:t>
            </a:r>
            <a:pPr indent="0" marL="0">
              <a:buNone/>
            </a:pPr>
            <a:r>
              <a:rPr lang="en-US" sz="1600" dirty="0">
                <a:solidFill>
                  <a:srgbClr val="1C2B39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  self-hostable, privacy-first, free for non-commercial use</a:t>
            </a:r>
            <a:endParaRPr lang="en-US" sz="1600" dirty="0"/>
          </a:p>
        </p:txBody>
      </p:sp>
      <p:sp>
        <p:nvSpPr>
          <p:cNvPr id="6" name="Text 4"/>
          <p:cNvSpPr/>
          <p:nvPr/>
        </p:nvSpPr>
        <p:spPr>
          <a:xfrm>
            <a:off x="685800" y="6309360"/>
            <a:ext cx="107899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5B6B7A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Anlan Peng · Ruihan Xie · Yihang Su · Zhenyu Yan · Zhiyuan Xie · Guoliang Xing    —    AIoT Lab · The Chinese University of Hong Kong</a:t>
            </a:r>
            <a:endParaRPr lang="en-US" sz="1100" dirty="0"/>
          </a:p>
        </p:txBody>
      </p:sp>
      <p:sp>
        <p:nvSpPr>
          <p:cNvPr id="7" name="Shape 5"/>
          <p:cNvSpPr/>
          <p:nvPr/>
        </p:nvSpPr>
        <p:spPr>
          <a:xfrm>
            <a:off x="8229600" y="1188720"/>
            <a:ext cx="3346704" cy="4526280"/>
          </a:xfrm>
          <a:prstGeom prst="roundRect">
            <a:avLst>
              <a:gd name="adj" fmla="val 3825"/>
            </a:avLst>
          </a:prstGeom>
          <a:solidFill>
            <a:srgbClr val="F4F7FB"/>
          </a:solidFill>
          <a:ln w="12700">
            <a:solidFill>
              <a:srgbClr val="DCE5EE"/>
            </a:solidFill>
            <a:prstDash val="solid"/>
          </a:ln>
          <a:effectLst>
            <a:outerShdw sx="100000" sy="100000" kx="0" ky="0" algn="bl" rotWithShape="0" blurRad="114300" dist="38100" dir="8100000">
              <a:srgbClr val="0E2841">
                <a:alpha val="12000"/>
              </a:srgbClr>
            </a:outerShdw>
          </a:effectLst>
        </p:spPr>
      </p:sp>
      <p:sp>
        <p:nvSpPr>
          <p:cNvPr id="8" name="Text 6"/>
          <p:cNvSpPr/>
          <p:nvPr/>
        </p:nvSpPr>
        <p:spPr>
          <a:xfrm>
            <a:off x="8229600" y="1463040"/>
            <a:ext cx="3346704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spc="100" kern="0" dirty="0">
                <a:solidFill>
                  <a:srgbClr val="0E2841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SCAN TO DOWNLOAD &amp; TRY</a:t>
            </a:r>
            <a:endParaRPr lang="en-US" sz="1300" dirty="0"/>
          </a:p>
        </p:txBody>
      </p:sp>
      <p:pic>
        <p:nvPicPr>
          <p:cNvPr id="9" name="Image 0" descr="/Users/pal/Projects/nuna-edu-toolkit-release/site/assets/qr/site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759952" y="1938528"/>
            <a:ext cx="2286000" cy="2286000"/>
          </a:xfrm>
          <a:prstGeom prst="rect">
            <a:avLst/>
          </a:prstGeom>
        </p:spPr>
      </p:pic>
      <p:sp>
        <p:nvSpPr>
          <p:cNvPr id="10" name="Text 7"/>
          <p:cNvSpPr/>
          <p:nvPr/>
        </p:nvSpPr>
        <p:spPr>
          <a:xfrm>
            <a:off x="8229600" y="4352544"/>
            <a:ext cx="334670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5B6B7A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Demo  ·  App  ·  Source — one link</a:t>
            </a:r>
            <a:endParaRPr lang="en-US" sz="1200" dirty="0"/>
          </a:p>
        </p:txBody>
      </p:sp>
      <p:sp>
        <p:nvSpPr>
          <p:cNvPr id="11" name="Text 8"/>
          <p:cNvSpPr/>
          <p:nvPr/>
        </p:nvSpPr>
        <p:spPr>
          <a:xfrm>
            <a:off x="8229600" y="4626864"/>
            <a:ext cx="334670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dirty="0">
                <a:solidFill>
                  <a:srgbClr val="156082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kevin-pal.github.io/nuna-edu-toolkit-release</a:t>
            </a:r>
            <a:endParaRPr lang="en-US" sz="105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</Slides>
  <Notes>1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</vt:i4>
      </vt:variant>
    </vt:vector>
  </HeadingPairs>
  <TitlesOfParts>
    <vt:vector size="4" baseType="lpstr">
      <vt:lpstr>Arial</vt:lpstr>
      <vt:lpstr>Calibri</vt:lpstr>
      <vt:lpstr>Office Theme</vt:lpstr>
      <vt:lpstr>Slide 1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Nuna-Edu-Toolkit</dc:title>
  <dc:subject>PptxGenJS Presentation</dc:subject>
  <dc:creator>Nuna-Edu-Toolkit</dc:creator>
  <cp:lastModifiedBy>Nuna-Edu-Toolkit</cp:lastModifiedBy>
  <cp:revision>1</cp:revision>
  <dcterms:created xsi:type="dcterms:W3CDTF">2026-06-20T07:43:38Z</dcterms:created>
  <dcterms:modified xsi:type="dcterms:W3CDTF">2026-06-20T07:43:38Z</dcterms:modified>
</cp:coreProperties>
</file>